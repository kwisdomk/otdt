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11996928" cy="731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"/>
            <a:ext cx="3200400" cy="384048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560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SOLUTION 04 OF 08  .  EAST AFRICA AI PLATFORM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3200400" cy="347472"/>
          </a:xfrm>
          <a:prstGeom prst="rect">
            <a:avLst/>
          </a:prstGeom>
          <a:solidFill>
            <a:srgbClr val="B91C1C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7498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STATUS: BUILD  .  PRIORITY 4  .  START DAY 90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6858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Digital Twin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DD6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Monte Carlo Industrial Digital Twin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267004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CEE"/>
                </a:solidFill>
              </a:rPr>
              <a:t>Probabilistic Failure Simulation . 3D Live Sensor Visualisation . What-If Maintenance Planning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18688"/>
            <a:ext cx="6675120" cy="1417320"/>
          </a:xfrm>
          <a:prstGeom prst="rect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218688"/>
            <a:ext cx="6675120" cy="1417320"/>
          </a:xfrm>
          <a:prstGeom prst="rect">
            <a:avLst/>
          </a:prstGeom>
          <a:noFill/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MVP FULL BUILD GUIDE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Unity XR 3D Model  .  LSTM Failure Predictor  .  Monte Carlo Engine (10,000 runs)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What-If Analyst  .  Anomaly AI (CNN)  .  Maintenance Scheduler  .  GDC Kenya Demo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0664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</a:rPr>
              <a:t>5 AI AGENTS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06640" y="640080"/>
            <a:ext cx="4572000" cy="102412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406640" y="640080"/>
            <a:ext cx="91440" cy="10241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>
          <a:xfrm>
            <a:off x="7516368" y="749808"/>
            <a:ext cx="658368" cy="658368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16368" y="7498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47888" y="7315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Predictor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47888" y="11521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LSTM: failure prob curves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06640" y="1810512"/>
            <a:ext cx="4572000" cy="102412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406640" y="1810512"/>
            <a:ext cx="91440" cy="10241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2" name="Shape 20"/>
          <p:cNvSpPr/>
          <p:nvPr/>
        </p:nvSpPr>
        <p:spPr>
          <a:xfrm>
            <a:off x="7516368" y="1920240"/>
            <a:ext cx="658368" cy="658368"/>
          </a:xfrm>
          <a:prstGeom prst="rect">
            <a:avLst/>
          </a:prstGeom>
          <a:solidFill>
            <a:srgbClr val="0F766E">
              <a:alpha val="30000"/>
            </a:srgbClr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16368" y="19202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47888" y="190195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Engine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47888" y="23225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10,000 runs in &lt;5s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06640" y="2980944"/>
            <a:ext cx="4572000" cy="102412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406640" y="2980944"/>
            <a:ext cx="91440" cy="1024128"/>
          </a:xfrm>
          <a:prstGeom prst="rect">
            <a:avLst/>
          </a:prstGeom>
          <a:solidFill>
            <a:srgbClr val="1E7B34"/>
          </a:solidFill>
          <a:ln/>
        </p:spPr>
      </p:sp>
      <p:sp>
        <p:nvSpPr>
          <p:cNvPr id="28" name="Shape 26"/>
          <p:cNvSpPr/>
          <p:nvPr/>
        </p:nvSpPr>
        <p:spPr>
          <a:xfrm>
            <a:off x="7516368" y="3090672"/>
            <a:ext cx="658368" cy="658368"/>
          </a:xfrm>
          <a:prstGeom prst="rect">
            <a:avLst/>
          </a:prstGeom>
          <a:solidFill>
            <a:srgbClr val="1E7B34">
              <a:alpha val="30000"/>
            </a:srgbClr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16368" y="30906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47888" y="307238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Maint. Scheduler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47888" y="34930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Optimised 90-day plan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06640" y="4151376"/>
            <a:ext cx="4572000" cy="102412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406640" y="4151376"/>
            <a:ext cx="91440" cy="102412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4" name="Shape 32"/>
          <p:cNvSpPr/>
          <p:nvPr/>
        </p:nvSpPr>
        <p:spPr>
          <a:xfrm>
            <a:off x="7516368" y="4261104"/>
            <a:ext cx="658368" cy="658368"/>
          </a:xfrm>
          <a:prstGeom prst="rect">
            <a:avLst/>
          </a:prstGeom>
          <a:solidFill>
            <a:srgbClr val="B45309">
              <a:alpha val="30000"/>
            </a:srgbClr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516368" y="42611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47888" y="424281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AI (CNN)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47888" y="46634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Visual deviation detection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06640" y="5321808"/>
            <a:ext cx="4572000" cy="102412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406640" y="5321808"/>
            <a:ext cx="91440" cy="102412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0" name="Shape 38"/>
          <p:cNvSpPr/>
          <p:nvPr/>
        </p:nvSpPr>
        <p:spPr>
          <a:xfrm>
            <a:off x="7516368" y="5431536"/>
            <a:ext cx="658368" cy="658368"/>
          </a:xfrm>
          <a:prstGeom prst="rect">
            <a:avLst/>
          </a:prstGeom>
          <a:solidFill>
            <a:srgbClr val="B91C1C">
              <a:alpha val="30000"/>
            </a:srgbClr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516368" y="54315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47888" y="54132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Analyst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47888" y="58338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Drag slider -- see risk now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i3 Technologies  .  IBM Silver Partner CEID 7sq30  .  Philip Mukiti  .  March 2026  .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Capability No East African Utility Has -- Probabilistic Maintenance Planning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5669280" cy="5394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22960"/>
            <a:ext cx="5669280" cy="4114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82296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HOW EA UTILITIES WORK TODAY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411480" cy="621792"/>
          </a:xfrm>
          <a:prstGeom prst="rect">
            <a:avLst/>
          </a:prstGeom>
          <a:solidFill>
            <a:srgbClr val="B91C1C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371600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</a:rPr>
              <a:t>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426464"/>
            <a:ext cx="4892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Calendar-based maintenance -- inspect every 90 days regardless of asset condition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176272"/>
            <a:ext cx="411480" cy="621792"/>
          </a:xfrm>
          <a:prstGeom prst="rect">
            <a:avLst/>
          </a:prstGeom>
          <a:solidFill>
            <a:srgbClr val="B91C1C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176272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</a:rPr>
              <a:t>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231136"/>
            <a:ext cx="4892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Gut-feel deferral decisions -- no quantification of failure risk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980944"/>
            <a:ext cx="411480" cy="621792"/>
          </a:xfrm>
          <a:prstGeom prst="rect">
            <a:avLst/>
          </a:prstGeom>
          <a:solidFill>
            <a:srgbClr val="B91C1C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980944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</a:rPr>
              <a:t>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035808"/>
            <a:ext cx="4892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Reactive failures -- unplanned downtime costs USD 180k+ per event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785616"/>
            <a:ext cx="411480" cy="621792"/>
          </a:xfrm>
          <a:prstGeom prst="rect">
            <a:avLst/>
          </a:prstGeom>
          <a:solidFill>
            <a:srgbClr val="B91C1C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785616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</a:rPr>
              <a:t>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840480"/>
            <a:ext cx="4892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Manual audit trail -- 3+ months to compile ISO 55000 report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4590288"/>
            <a:ext cx="411480" cy="621792"/>
          </a:xfrm>
          <a:prstGeom prst="rect">
            <a:avLst/>
          </a:prstGeom>
          <a:solidFill>
            <a:srgbClr val="B91C1C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4590288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</a:rPr>
              <a:t>✗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4645152"/>
            <a:ext cx="4892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No simulation capability -- cannot model 'what if' scenarios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09360" y="822960"/>
            <a:ext cx="5669280" cy="5394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09360" y="822960"/>
            <a:ext cx="56692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82296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WITH OT DIGITAL TWIN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46520" y="1371600"/>
            <a:ext cx="411480" cy="621792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1371600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1426464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LSTM predicts failure probability -- inspect when risk is high, defer when low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46520" y="2176272"/>
            <a:ext cx="411480" cy="621792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2176272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49440" y="2231136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Monte Carlo quantifies deferral risk -- 10,000 scenarios in &lt;5 seconds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46520" y="2980944"/>
            <a:ext cx="411480" cy="621792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2980944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49440" y="3035808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Prevent failures before they happen -- ROI 650% based on 2 prevented failures/year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46520" y="3785616"/>
            <a:ext cx="411480" cy="621792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3785616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49440" y="3840480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Auto-generate ISO 55000 audit reports from live 3D twin data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46520" y="4590288"/>
            <a:ext cx="411480" cy="621792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46520" y="4590288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49440" y="4645152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What-If slider: drag 45 days deferral, see failure prob jump 34% to 68% in real time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D6FE"/>
                </a:solidFill>
              </a:rPr>
              <a:t>i3 Technologies  .  OT Digital Twin  .  Solution 04 of 08  .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Success Criteria -- All 6 metrics must pass before GDC Kenya demo (Day 116)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657600" cy="2377440"/>
          </a:xfrm>
          <a:prstGeom prst="rect">
            <a:avLst/>
          </a:prstGeom>
          <a:solidFill>
            <a:srgbClr val="1E2A3B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365760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789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Accuracy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&gt;82%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11480" y="26974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AUC-ROC on GDC holdout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914400"/>
            <a:ext cx="3657600" cy="2377440"/>
          </a:xfrm>
          <a:prstGeom prst="rect">
            <a:avLst/>
          </a:prstGeom>
          <a:solidFill>
            <a:srgbClr val="1E2A3B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914400"/>
            <a:ext cx="3657600" cy="914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0789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Speed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43400" y="1536192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&lt;5s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343400" y="26974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10,000 runs on GPU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914400"/>
            <a:ext cx="3657600" cy="2377440"/>
          </a:xfrm>
          <a:prstGeom prst="rect">
            <a:avLst/>
          </a:prstGeom>
          <a:solidFill>
            <a:srgbClr val="1E2A3B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914400"/>
            <a:ext cx="3657600" cy="91440"/>
          </a:xfrm>
          <a:prstGeom prst="rect">
            <a:avLst/>
          </a:prstGeom>
          <a:solidFill>
            <a:srgbClr val="1E7B34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0789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Response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75320" y="1536192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7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&lt;2s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8275320" y="26974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Slider to UI update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566160"/>
            <a:ext cx="3657600" cy="2377440"/>
          </a:xfrm>
          <a:prstGeom prst="rect">
            <a:avLst/>
          </a:prstGeom>
          <a:solidFill>
            <a:srgbClr val="1E2A3B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566160"/>
            <a:ext cx="36576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7307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Sensor Latency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187952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&lt;1s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411480" y="53492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SCADA to colour change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06240" y="3566160"/>
            <a:ext cx="3657600" cy="2377440"/>
          </a:xfrm>
          <a:prstGeom prst="rect">
            <a:avLst/>
          </a:prstGeom>
          <a:solidFill>
            <a:srgbClr val="1E2A3B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06240" y="3566160"/>
            <a:ext cx="3657600" cy="914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6" name="Text 24"/>
          <p:cNvSpPr/>
          <p:nvPr/>
        </p:nvSpPr>
        <p:spPr>
          <a:xfrm>
            <a:off x="4343400" y="37307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43400" y="4187952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&gt;80%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4343400" y="53492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CNN on visual test set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3566160"/>
            <a:ext cx="3657600" cy="2377440"/>
          </a:xfrm>
          <a:prstGeom prst="rect">
            <a:avLst/>
          </a:prstGeom>
          <a:solidFill>
            <a:srgbClr val="1E2A3B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38160" y="3566160"/>
            <a:ext cx="365760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37307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GDC Demo ROI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75320" y="4187952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650%</a:t>
            </a:r>
            <a:endParaRPr lang="en-US" sz="5200" dirty="0"/>
          </a:p>
        </p:txBody>
      </p:sp>
      <p:sp>
        <p:nvSpPr>
          <p:cNvPr id="33" name="Text 31"/>
          <p:cNvSpPr/>
          <p:nvPr/>
        </p:nvSpPr>
        <p:spPr>
          <a:xfrm>
            <a:off x="8275320" y="53492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2 prevented failures/yr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i3 Technologies  .  OT Digital Twin  .  Solution 04 of 08  .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9-Step MVP Build Guide | Days 90-120 | i3 Smart Labs -&gt; GDC Kenya Geothermal Demo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161288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1261872" y="1024128"/>
            <a:ext cx="274320" cy="2743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53312"/>
            <a:ext cx="21945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53312"/>
            <a:ext cx="2194560" cy="914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078992"/>
            <a:ext cx="731520" cy="731520"/>
          </a:xfrm>
          <a:prstGeom prst="ellipse">
            <a:avLst/>
          </a:prstGeom>
          <a:solidFill>
            <a:srgbClr val="1E3A5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10789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1554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D90-92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185623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TechZone + Unity Setup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468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APM + ML Lab + 3D URP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02736" y="1024128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2615184" y="1353312"/>
            <a:ext cx="21945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15184" y="1353312"/>
            <a:ext cx="219456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>
          <a:xfrm>
            <a:off x="3346704" y="1078992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46704" y="10789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15184" y="1554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D91-95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06624" y="185623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Maximo APM + Sensor API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06624" y="2468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50 assets, 5 sensor ch. each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0" y="1024128"/>
            <a:ext cx="274320" cy="2743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2" name="Shape 20"/>
          <p:cNvSpPr/>
          <p:nvPr/>
        </p:nvSpPr>
        <p:spPr>
          <a:xfrm>
            <a:off x="4956048" y="1353312"/>
            <a:ext cx="21945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56048" y="1353312"/>
            <a:ext cx="2194560" cy="914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4" name="Shape 22"/>
          <p:cNvSpPr/>
          <p:nvPr/>
        </p:nvSpPr>
        <p:spPr>
          <a:xfrm>
            <a:off x="5687568" y="1078992"/>
            <a:ext cx="731520" cy="73152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87568" y="10789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56048" y="1554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D92-105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47488" y="185623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Unity 3D Model Build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47488" y="2468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Live colour coding + Three.js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284464" y="1024128"/>
            <a:ext cx="274320" cy="274320"/>
          </a:xfrm>
          <a:prstGeom prst="ellipse">
            <a:avLst/>
          </a:prstGeom>
          <a:solidFill>
            <a:srgbClr val="1E7B34"/>
          </a:solidFill>
          <a:ln/>
        </p:spPr>
      </p:sp>
      <p:sp>
        <p:nvSpPr>
          <p:cNvPr id="30" name="Shape 28"/>
          <p:cNvSpPr/>
          <p:nvPr/>
        </p:nvSpPr>
        <p:spPr>
          <a:xfrm>
            <a:off x="7296912" y="1353312"/>
            <a:ext cx="21945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96912" y="1353312"/>
            <a:ext cx="2194560" cy="91440"/>
          </a:xfrm>
          <a:prstGeom prst="rect">
            <a:avLst/>
          </a:prstGeom>
          <a:solidFill>
            <a:srgbClr val="1E7B34"/>
          </a:solidFill>
          <a:ln/>
        </p:spPr>
      </p:sp>
      <p:sp>
        <p:nvSpPr>
          <p:cNvPr id="32" name="Shape 30"/>
          <p:cNvSpPr/>
          <p:nvPr/>
        </p:nvSpPr>
        <p:spPr>
          <a:xfrm>
            <a:off x="8028432" y="1078992"/>
            <a:ext cx="731520" cy="731520"/>
          </a:xfrm>
          <a:prstGeom prst="ellipse">
            <a:avLst/>
          </a:prstGeom>
          <a:solidFill>
            <a:srgbClr val="1E7B34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028432" y="10789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96912" y="1554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D96-106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388352" y="185623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LSTM Failure Predictor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388352" y="2468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B34"/>
                </a:solidFill>
              </a:rPr>
              <a:t>&gt;82% AUC-ROC target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625328" y="1024128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8" name="Shape 36"/>
          <p:cNvSpPr/>
          <p:nvPr/>
        </p:nvSpPr>
        <p:spPr>
          <a:xfrm>
            <a:off x="9637776" y="1353312"/>
            <a:ext cx="21945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637776" y="1353312"/>
            <a:ext cx="219456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0" name="Shape 38"/>
          <p:cNvSpPr/>
          <p:nvPr/>
        </p:nvSpPr>
        <p:spPr>
          <a:xfrm>
            <a:off x="10369296" y="1078992"/>
            <a:ext cx="731520" cy="731520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0369296" y="10789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637776" y="1554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D101-110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729216" y="185623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Monte Carlo Engine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729216" y="2468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</a:rPr>
              <a:t>10k runs &lt;5s, Weibull fit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261872" y="1024128"/>
            <a:ext cx="274320" cy="27432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46" name="Shape 44"/>
          <p:cNvSpPr/>
          <p:nvPr/>
        </p:nvSpPr>
        <p:spPr>
          <a:xfrm>
            <a:off x="274320" y="4370832"/>
            <a:ext cx="21945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74320" y="4370832"/>
            <a:ext cx="2194560" cy="914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8" name="Shape 46"/>
          <p:cNvSpPr/>
          <p:nvPr/>
        </p:nvSpPr>
        <p:spPr>
          <a:xfrm>
            <a:off x="1005840" y="4096512"/>
            <a:ext cx="731520" cy="731520"/>
          </a:xfrm>
          <a:prstGeom prst="ellipse">
            <a:avLst/>
          </a:prstGeom>
          <a:solidFill>
            <a:srgbClr val="B91C1C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005840" y="4096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274320" y="45720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D107-113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65760" y="487375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What-If Analyst UI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65760" y="54864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Slider &lt;2s response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02736" y="1024128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4" name="Shape 52"/>
          <p:cNvSpPr/>
          <p:nvPr/>
        </p:nvSpPr>
        <p:spPr>
          <a:xfrm>
            <a:off x="2615184" y="4370832"/>
            <a:ext cx="21945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615184" y="4370832"/>
            <a:ext cx="219456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6" name="Shape 54"/>
          <p:cNvSpPr/>
          <p:nvPr/>
        </p:nvSpPr>
        <p:spPr>
          <a:xfrm>
            <a:off x="3346704" y="4096512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346704" y="4096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2615184" y="45720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D105-115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706624" y="487375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CNN Anomaly AI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2706624" y="54864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&gt;80% visual detection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943600" y="1024128"/>
            <a:ext cx="274320" cy="2743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2" name="Shape 60"/>
          <p:cNvSpPr/>
          <p:nvPr/>
        </p:nvSpPr>
        <p:spPr>
          <a:xfrm>
            <a:off x="4956048" y="4370832"/>
            <a:ext cx="21945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956048" y="4370832"/>
            <a:ext cx="2194560" cy="914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4" name="Shape 62"/>
          <p:cNvSpPr/>
          <p:nvPr/>
        </p:nvSpPr>
        <p:spPr>
          <a:xfrm>
            <a:off x="5687568" y="4096512"/>
            <a:ext cx="731520" cy="73152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5687568" y="4096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4956048" y="45720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D110-116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047488" y="487375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Maintenance Scheduler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5047488" y="54864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90-day optimised + Maximo WOs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284464" y="1024128"/>
            <a:ext cx="274320" cy="274320"/>
          </a:xfrm>
          <a:prstGeom prst="ellipse">
            <a:avLst/>
          </a:prstGeom>
          <a:solidFill>
            <a:srgbClr val="1E7B34"/>
          </a:solidFill>
          <a:ln/>
        </p:spPr>
      </p:sp>
      <p:sp>
        <p:nvSpPr>
          <p:cNvPr id="70" name="Shape 68"/>
          <p:cNvSpPr/>
          <p:nvPr/>
        </p:nvSpPr>
        <p:spPr>
          <a:xfrm>
            <a:off x="7296912" y="4370832"/>
            <a:ext cx="21945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7296912" y="4370832"/>
            <a:ext cx="2194560" cy="91440"/>
          </a:xfrm>
          <a:prstGeom prst="rect">
            <a:avLst/>
          </a:prstGeom>
          <a:solidFill>
            <a:srgbClr val="1E7B34"/>
          </a:solidFill>
          <a:ln/>
        </p:spPr>
      </p:sp>
      <p:sp>
        <p:nvSpPr>
          <p:cNvPr id="72" name="Shape 70"/>
          <p:cNvSpPr/>
          <p:nvPr/>
        </p:nvSpPr>
        <p:spPr>
          <a:xfrm>
            <a:off x="8028432" y="4096512"/>
            <a:ext cx="731520" cy="731520"/>
          </a:xfrm>
          <a:prstGeom prst="ellipse">
            <a:avLst/>
          </a:prstGeom>
          <a:solidFill>
            <a:srgbClr val="1E7B34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8028432" y="4096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7296912" y="45720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D116-120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388352" y="487375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GDC Kenya Demo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7388352" y="54864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B34"/>
                </a:solidFill>
              </a:rPr>
              <a:t>650% ROI quantified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8" name="Text 76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i3 Technologies  .  OT Digital Twin  .  Solution 04 of 08  .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GDC Kenya Demo -- 3 Scenarios That Sell the Platform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3822192" cy="5577840"/>
          </a:xfrm>
          <a:prstGeom prst="rect">
            <a:avLst/>
          </a:prstGeom>
          <a:solidFill>
            <a:srgbClr val="1E2A3B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3822192" cy="914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" name="Shape 4"/>
          <p:cNvSpPr/>
          <p:nvPr/>
        </p:nvSpPr>
        <p:spPr>
          <a:xfrm>
            <a:off x="1691640" y="685800"/>
            <a:ext cx="731520" cy="731520"/>
          </a:xfrm>
          <a:prstGeom prst="ellipse">
            <a:avLst/>
          </a:prstGeom>
          <a:solidFill>
            <a:srgbClr val="B91C1C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91640" y="685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987552"/>
            <a:ext cx="36393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Prediction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481328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91C1C"/>
                </a:solidFill>
              </a:rPr>
              <a:t>The LSTM sees what the calendar cannot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901952"/>
            <a:ext cx="3547872" cy="594360"/>
          </a:xfrm>
          <a:prstGeom prst="rect">
            <a:avLst/>
          </a:prstGeom>
          <a:solidFill>
            <a:srgbClr val="152033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901952"/>
            <a:ext cx="54864" cy="5943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190195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EE"/>
                </a:solidFill>
              </a:rPr>
              <a:t>Click Well Pump WP-07 in 3D model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587752"/>
            <a:ext cx="3547872" cy="594360"/>
          </a:xfrm>
          <a:prstGeom prst="rect">
            <a:avLst/>
          </a:prstGeom>
          <a:solidFill>
            <a:srgbClr val="152033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2587752"/>
            <a:ext cx="54864" cy="5943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258775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EE"/>
                </a:solidFill>
              </a:rPr>
              <a:t>Sensor panel: temperature +18% above normal, 14-day upward trend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3273552"/>
            <a:ext cx="3547872" cy="594360"/>
          </a:xfrm>
          <a:prstGeom prst="rect">
            <a:avLst/>
          </a:prstGeom>
          <a:solidFill>
            <a:srgbClr val="152033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" y="3273552"/>
            <a:ext cx="54864" cy="5943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327355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EE"/>
                </a:solidFill>
              </a:rPr>
              <a:t>LSTM: 34% failure probability within 30 days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3959352"/>
            <a:ext cx="3547872" cy="594360"/>
          </a:xfrm>
          <a:prstGeom prst="rect">
            <a:avLst/>
          </a:prstGeom>
          <a:solidFill>
            <a:srgbClr val="152033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3959352"/>
            <a:ext cx="54864" cy="5943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" y="395935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EE"/>
                </a:solidFill>
              </a:rPr>
              <a:t>Current GDC calendar: next inspection in 45 days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4645152"/>
            <a:ext cx="3547872" cy="594360"/>
          </a:xfrm>
          <a:prstGeom prst="rect">
            <a:avLst/>
          </a:prstGeom>
          <a:solidFill>
            <a:srgbClr val="152033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" y="4645152"/>
            <a:ext cx="54864" cy="5943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" y="464515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EE"/>
                </a:solidFill>
              </a:rPr>
              <a:t>Insight: without OT Digital Twin, WP-07 would fail undetected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5376672"/>
            <a:ext cx="3547872" cy="658368"/>
          </a:xfrm>
          <a:prstGeom prst="rect">
            <a:avLst/>
          </a:prstGeom>
          <a:solidFill>
            <a:srgbClr val="B91C1C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5376672"/>
            <a:ext cx="34564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USD 180,000 avoided failure cost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87952" y="804672"/>
            <a:ext cx="3822192" cy="5577840"/>
          </a:xfrm>
          <a:prstGeom prst="rect">
            <a:avLst/>
          </a:prstGeom>
          <a:solidFill>
            <a:srgbClr val="1E2A3B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87952" y="804672"/>
            <a:ext cx="3822192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9" name="Shape 27"/>
          <p:cNvSpPr/>
          <p:nvPr/>
        </p:nvSpPr>
        <p:spPr>
          <a:xfrm>
            <a:off x="5696712" y="685800"/>
            <a:ext cx="731520" cy="731520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96712" y="685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279392" y="987552"/>
            <a:ext cx="36393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Analysis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279392" y="1481328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45309"/>
                </a:solidFill>
              </a:rPr>
              <a:t>Drag the slider -- see the risk in real time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25112" y="1901952"/>
            <a:ext cx="3547872" cy="594360"/>
          </a:xfrm>
          <a:prstGeom prst="rect">
            <a:avLst/>
          </a:prstGeom>
          <a:solidFill>
            <a:srgbClr val="152033"/>
          </a:solidFill>
          <a:ln/>
        </p:spPr>
      </p:sp>
      <p:sp>
        <p:nvSpPr>
          <p:cNvPr id="34" name="Shape 32"/>
          <p:cNvSpPr/>
          <p:nvPr/>
        </p:nvSpPr>
        <p:spPr>
          <a:xfrm>
            <a:off x="4325112" y="1901952"/>
            <a:ext cx="54864" cy="5943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5" name="Text 33"/>
          <p:cNvSpPr/>
          <p:nvPr/>
        </p:nvSpPr>
        <p:spPr>
          <a:xfrm>
            <a:off x="4443984" y="190195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EE"/>
                </a:solidFill>
              </a:rPr>
              <a:t>Move deferral slider from 0 to 45 days for WP-07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325112" y="2587752"/>
            <a:ext cx="3547872" cy="594360"/>
          </a:xfrm>
          <a:prstGeom prst="rect">
            <a:avLst/>
          </a:prstGeom>
          <a:solidFill>
            <a:srgbClr val="152033"/>
          </a:solidFill>
          <a:ln/>
        </p:spPr>
      </p:sp>
      <p:sp>
        <p:nvSpPr>
          <p:cNvPr id="37" name="Shape 35"/>
          <p:cNvSpPr/>
          <p:nvPr/>
        </p:nvSpPr>
        <p:spPr>
          <a:xfrm>
            <a:off x="4325112" y="2587752"/>
            <a:ext cx="54864" cy="5943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8" name="Text 36"/>
          <p:cNvSpPr/>
          <p:nvPr/>
        </p:nvSpPr>
        <p:spPr>
          <a:xfrm>
            <a:off x="4443984" y="258775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EE"/>
                </a:solidFill>
              </a:rPr>
              <a:t>Failure probability updates from 34% to 68% in &lt;2 seconds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325112" y="3273552"/>
            <a:ext cx="3547872" cy="594360"/>
          </a:xfrm>
          <a:prstGeom prst="rect">
            <a:avLst/>
          </a:prstGeom>
          <a:solidFill>
            <a:srgbClr val="152033"/>
          </a:solidFill>
          <a:ln/>
        </p:spPr>
      </p:sp>
      <p:sp>
        <p:nvSpPr>
          <p:cNvPr id="40" name="Shape 38"/>
          <p:cNvSpPr/>
          <p:nvPr/>
        </p:nvSpPr>
        <p:spPr>
          <a:xfrm>
            <a:off x="4325112" y="3273552"/>
            <a:ext cx="54864" cy="5943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1" name="Text 39"/>
          <p:cNvSpPr/>
          <p:nvPr/>
        </p:nvSpPr>
        <p:spPr>
          <a:xfrm>
            <a:off x="4443984" y="327355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EE"/>
                </a:solidFill>
              </a:rPr>
              <a:t>Expected cost = 68% x USD 180,000 = USD 122,400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325112" y="3959352"/>
            <a:ext cx="3547872" cy="594360"/>
          </a:xfrm>
          <a:prstGeom prst="rect">
            <a:avLst/>
          </a:prstGeom>
          <a:solidFill>
            <a:srgbClr val="152033"/>
          </a:solidFill>
          <a:ln/>
        </p:spPr>
      </p:sp>
      <p:sp>
        <p:nvSpPr>
          <p:cNvPr id="43" name="Shape 41"/>
          <p:cNvSpPr/>
          <p:nvPr/>
        </p:nvSpPr>
        <p:spPr>
          <a:xfrm>
            <a:off x="4325112" y="3959352"/>
            <a:ext cx="54864" cy="5943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4" name="Text 42"/>
          <p:cNvSpPr/>
          <p:nvPr/>
        </p:nvSpPr>
        <p:spPr>
          <a:xfrm>
            <a:off x="4443984" y="395935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EE"/>
                </a:solidFill>
              </a:rPr>
              <a:t>Inspection cost = USD 8,000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325112" y="4645152"/>
            <a:ext cx="3547872" cy="594360"/>
          </a:xfrm>
          <a:prstGeom prst="rect">
            <a:avLst/>
          </a:prstGeom>
          <a:solidFill>
            <a:srgbClr val="152033"/>
          </a:solidFill>
          <a:ln/>
        </p:spPr>
      </p:sp>
      <p:sp>
        <p:nvSpPr>
          <p:cNvPr id="46" name="Shape 44"/>
          <p:cNvSpPr/>
          <p:nvPr/>
        </p:nvSpPr>
        <p:spPr>
          <a:xfrm>
            <a:off x="4325112" y="4645152"/>
            <a:ext cx="54864" cy="5943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7" name="Text 45"/>
          <p:cNvSpPr/>
          <p:nvPr/>
        </p:nvSpPr>
        <p:spPr>
          <a:xfrm>
            <a:off x="4443984" y="464515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EE"/>
                </a:solidFill>
              </a:rPr>
              <a:t>Decision: inspect now. ROI of this single decision: 1,430%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325112" y="5376672"/>
            <a:ext cx="3547872" cy="658368"/>
          </a:xfrm>
          <a:prstGeom prst="rect">
            <a:avLst/>
          </a:prstGeom>
          <a:solidFill>
            <a:srgbClr val="B45309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4370832" y="5376672"/>
            <a:ext cx="34564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USD 114,400 net value of single decision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193024" y="804672"/>
            <a:ext cx="3822192" cy="5577840"/>
          </a:xfrm>
          <a:prstGeom prst="rect">
            <a:avLst/>
          </a:prstGeom>
          <a:solidFill>
            <a:srgbClr val="1E2A3B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193024" y="804672"/>
            <a:ext cx="3822192" cy="91440"/>
          </a:xfrm>
          <a:prstGeom prst="rect">
            <a:avLst/>
          </a:prstGeom>
          <a:solidFill>
            <a:srgbClr val="1E7B34"/>
          </a:solidFill>
          <a:ln/>
        </p:spPr>
      </p:sp>
      <p:sp>
        <p:nvSpPr>
          <p:cNvPr id="52" name="Shape 50"/>
          <p:cNvSpPr/>
          <p:nvPr/>
        </p:nvSpPr>
        <p:spPr>
          <a:xfrm>
            <a:off x="9701784" y="685800"/>
            <a:ext cx="731520" cy="731520"/>
          </a:xfrm>
          <a:prstGeom prst="ellipse">
            <a:avLst/>
          </a:prstGeom>
          <a:solidFill>
            <a:srgbClr val="1E7B34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9701784" y="685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284464" y="987552"/>
            <a:ext cx="36393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Schedule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284464" y="1481328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B34"/>
                </a:solidFill>
              </a:rPr>
              <a:t>Replace gut feel with probabilistic planning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330184" y="1901952"/>
            <a:ext cx="3547872" cy="594360"/>
          </a:xfrm>
          <a:prstGeom prst="rect">
            <a:avLst/>
          </a:prstGeom>
          <a:solidFill>
            <a:srgbClr val="152033"/>
          </a:solidFill>
          <a:ln/>
        </p:spPr>
      </p:sp>
      <p:sp>
        <p:nvSpPr>
          <p:cNvPr id="57" name="Shape 55"/>
          <p:cNvSpPr/>
          <p:nvPr/>
        </p:nvSpPr>
        <p:spPr>
          <a:xfrm>
            <a:off x="8330184" y="1901952"/>
            <a:ext cx="54864" cy="594360"/>
          </a:xfrm>
          <a:prstGeom prst="rect">
            <a:avLst/>
          </a:prstGeom>
          <a:solidFill>
            <a:srgbClr val="1E7B34"/>
          </a:solidFill>
          <a:ln/>
        </p:spPr>
      </p:sp>
      <p:sp>
        <p:nvSpPr>
          <p:cNvPr id="58" name="Text 56"/>
          <p:cNvSpPr/>
          <p:nvPr/>
        </p:nvSpPr>
        <p:spPr>
          <a:xfrm>
            <a:off x="8449056" y="190195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EE"/>
                </a:solidFill>
              </a:rPr>
              <a:t>Run Maintenance Scheduler for full GDC plant (50 assets)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8330184" y="2587752"/>
            <a:ext cx="3547872" cy="594360"/>
          </a:xfrm>
          <a:prstGeom prst="rect">
            <a:avLst/>
          </a:prstGeom>
          <a:solidFill>
            <a:srgbClr val="152033"/>
          </a:solidFill>
          <a:ln/>
        </p:spPr>
      </p:sp>
      <p:sp>
        <p:nvSpPr>
          <p:cNvPr id="60" name="Shape 58"/>
          <p:cNvSpPr/>
          <p:nvPr/>
        </p:nvSpPr>
        <p:spPr>
          <a:xfrm>
            <a:off x="8330184" y="2587752"/>
            <a:ext cx="54864" cy="594360"/>
          </a:xfrm>
          <a:prstGeom prst="rect">
            <a:avLst/>
          </a:prstGeom>
          <a:solidFill>
            <a:srgbClr val="1E7B34"/>
          </a:solidFill>
          <a:ln/>
        </p:spPr>
      </p:sp>
      <p:sp>
        <p:nvSpPr>
          <p:cNvPr id="61" name="Text 59"/>
          <p:cNvSpPr/>
          <p:nvPr/>
        </p:nvSpPr>
        <p:spPr>
          <a:xfrm>
            <a:off x="8449056" y="258775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EE"/>
                </a:solidFill>
              </a:rPr>
              <a:t>90-day schedule displayed as Gantt chart in Unity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8330184" y="3273552"/>
            <a:ext cx="3547872" cy="594360"/>
          </a:xfrm>
          <a:prstGeom prst="rect">
            <a:avLst/>
          </a:prstGeom>
          <a:solidFill>
            <a:srgbClr val="152033"/>
          </a:solidFill>
          <a:ln/>
        </p:spPr>
      </p:sp>
      <p:sp>
        <p:nvSpPr>
          <p:cNvPr id="63" name="Shape 61"/>
          <p:cNvSpPr/>
          <p:nvPr/>
        </p:nvSpPr>
        <p:spPr>
          <a:xfrm>
            <a:off x="8330184" y="3273552"/>
            <a:ext cx="54864" cy="594360"/>
          </a:xfrm>
          <a:prstGeom prst="rect">
            <a:avLst/>
          </a:prstGeom>
          <a:solidFill>
            <a:srgbClr val="1E7B34"/>
          </a:solidFill>
          <a:ln/>
        </p:spPr>
      </p:sp>
      <p:sp>
        <p:nvSpPr>
          <p:cNvPr id="64" name="Text 62"/>
          <p:cNvSpPr/>
          <p:nvPr/>
        </p:nvSpPr>
        <p:spPr>
          <a:xfrm>
            <a:off x="8449056" y="327355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EE"/>
                </a:solidFill>
              </a:rPr>
              <a:t>3 assets not on GDC calendar flagged with &gt;30% 30-day risk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8330184" y="3959352"/>
            <a:ext cx="3547872" cy="594360"/>
          </a:xfrm>
          <a:prstGeom prst="rect">
            <a:avLst/>
          </a:prstGeom>
          <a:solidFill>
            <a:srgbClr val="152033"/>
          </a:solidFill>
          <a:ln/>
        </p:spPr>
      </p:sp>
      <p:sp>
        <p:nvSpPr>
          <p:cNvPr id="66" name="Shape 64"/>
          <p:cNvSpPr/>
          <p:nvPr/>
        </p:nvSpPr>
        <p:spPr>
          <a:xfrm>
            <a:off x="8330184" y="3959352"/>
            <a:ext cx="54864" cy="594360"/>
          </a:xfrm>
          <a:prstGeom prst="rect">
            <a:avLst/>
          </a:prstGeom>
          <a:solidFill>
            <a:srgbClr val="1E7B34"/>
          </a:solidFill>
          <a:ln/>
        </p:spPr>
      </p:sp>
      <p:sp>
        <p:nvSpPr>
          <p:cNvPr id="67" name="Text 65"/>
          <p:cNvSpPr/>
          <p:nvPr/>
        </p:nvSpPr>
        <p:spPr>
          <a:xfrm>
            <a:off x="8449056" y="395935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EE"/>
                </a:solidFill>
              </a:rPr>
              <a:t>Top-5 Maximo WOs auto-created from scheduler output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330184" y="4645152"/>
            <a:ext cx="3547872" cy="594360"/>
          </a:xfrm>
          <a:prstGeom prst="rect">
            <a:avLst/>
          </a:prstGeom>
          <a:solidFill>
            <a:srgbClr val="152033"/>
          </a:solidFill>
          <a:ln/>
        </p:spPr>
      </p:sp>
      <p:sp>
        <p:nvSpPr>
          <p:cNvPr id="69" name="Shape 67"/>
          <p:cNvSpPr/>
          <p:nvPr/>
        </p:nvSpPr>
        <p:spPr>
          <a:xfrm>
            <a:off x="8330184" y="4645152"/>
            <a:ext cx="54864" cy="594360"/>
          </a:xfrm>
          <a:prstGeom prst="rect">
            <a:avLst/>
          </a:prstGeom>
          <a:solidFill>
            <a:srgbClr val="1E7B34"/>
          </a:solidFill>
          <a:ln/>
        </p:spPr>
      </p:sp>
      <p:sp>
        <p:nvSpPr>
          <p:cNvPr id="70" name="Text 68"/>
          <p:cNvSpPr/>
          <p:nvPr/>
        </p:nvSpPr>
        <p:spPr>
          <a:xfrm>
            <a:off x="8449056" y="464515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CCEE"/>
                </a:solidFill>
              </a:rPr>
              <a:t>Annual value: 2 prevented failures = USD 360,000 savings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8330184" y="5376672"/>
            <a:ext cx="3547872" cy="658368"/>
          </a:xfrm>
          <a:prstGeom prst="rect">
            <a:avLst/>
          </a:prstGeom>
          <a:solidFill>
            <a:srgbClr val="1E7B34">
              <a:alpha val="20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8375904" y="5376672"/>
            <a:ext cx="34564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650% ROI vs USD 48,000/year platform cost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4" name="Text 72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i3 Technologies  .  OT Digital Twin  .  Solution 04 of 08  .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Datasets -- All 4 in OT_Digital_Twin_MVP_Tracker.xlsx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57607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22960"/>
            <a:ext cx="576072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155448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60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GDC_Assets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96596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</a:rPr>
              <a:t>50 records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298448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GDC Kenya Asset Inventory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7373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50 geothermal plant equipment records (well pumps, heat exchangers, turbines, pipes). Pre-structured for Maximo APM loading with Unity object name mapping.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304288"/>
            <a:ext cx="5394960" cy="4572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30428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55555"/>
                </a:solidFill>
              </a:rPr>
              <a:t>Fields: asset_id . asset_class . design_pressure_bar . last_maint_date . replacement_cost_usd . unity_object_name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0040" y="2834640"/>
            <a:ext cx="5394960" cy="36576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USE IN: Step 2: Maximo APM asset hierarchy loading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17920" y="822960"/>
            <a:ext cx="57607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822960"/>
            <a:ext cx="5760720" cy="914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960120"/>
            <a:ext cx="1554480" cy="2743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960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Sensor_Readings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00100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</a:rPr>
              <a:t>43,800 records (hourly)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55080" y="1298448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Sensor Time Series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17373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5-year hourly sensor data across 10 GDC assets. Includes realistic degradation trends, seasonal patterns, and pre-failure signatures. failure_label = 1 in 30 days before failure.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55080" y="2304288"/>
            <a:ext cx="5394960" cy="4572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230428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55555"/>
                </a:solidFill>
              </a:rPr>
              <a:t>Fields: timestamp . asset_id . temperature_c . pressure_bar . vibration_mm_s . flow_rate_kg_s . health_score . failure_label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355080" y="2834640"/>
            <a:ext cx="5394960" cy="365760"/>
          </a:xfrm>
          <a:prstGeom prst="rect">
            <a:avLst/>
          </a:prstGeom>
          <a:solidFill>
            <a:srgbClr val="0F766E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USE IN: Step 4: LSTM Failure Predictor training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82880" y="3657600"/>
            <a:ext cx="57607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82880" y="3657600"/>
            <a:ext cx="576072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" y="3794760"/>
            <a:ext cx="1554480" cy="2743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3794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Failure_History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965960" y="3794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</a:rPr>
              <a:t>500 failure records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0040" y="4133088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Failure Events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0040" y="457200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5-year failure history across all 50 GDC assets, 4 equipment classes, 6 failure modes. Includes time_since_maintenance for Weibull fitting and sensor_warning_hours for LSTM validation.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5138928"/>
            <a:ext cx="5394960" cy="4572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513892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55555"/>
                </a:solidFill>
              </a:rPr>
              <a:t>Fields: failure_id . asset_id . failure_mode . days_since_maint . sensor_warn_hrs . repair_cost_usd . downtime_hrs . root_cause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20040" y="5669280"/>
            <a:ext cx="5394960" cy="365760"/>
          </a:xfrm>
          <a:prstGeom prst="rect">
            <a:avLst/>
          </a:prstGeom>
          <a:solidFill>
            <a:srgbClr val="B45309">
              <a:alpha val="1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5669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</a:rPr>
              <a:t>USE IN: Step 5: Weibull distribution fitting for Monte Carlo engine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17920" y="3657600"/>
            <a:ext cx="57607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3657600"/>
            <a:ext cx="5760720" cy="914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9" name="Shape 37"/>
          <p:cNvSpPr/>
          <p:nvPr/>
        </p:nvSpPr>
        <p:spPr>
          <a:xfrm>
            <a:off x="6355080" y="3794760"/>
            <a:ext cx="1554480" cy="2743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0" name="Text 38"/>
          <p:cNvSpPr/>
          <p:nvPr/>
        </p:nvSpPr>
        <p:spPr>
          <a:xfrm>
            <a:off x="6355080" y="3794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MC_Validation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001000" y="3794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</a:rPr>
              <a:t>100 validation cases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55080" y="4133088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Validation Cases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355080" y="457200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100 pre-computed Monte Carlo validation cases against known historical outcomes. Use to validate simulation engine accuracy. Target: Brier score &lt; 0.15, accuracy &gt;80%.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55080" y="5138928"/>
            <a:ext cx="5394960" cy="4572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0" y="513892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55555"/>
                </a:solidFill>
              </a:rPr>
              <a:t>Fields: validation_id . sim_date . sensor_state_json . sim_prob_30d . actual_fail_30d . sim_correct . ci_low . ci_high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355080" y="5669280"/>
            <a:ext cx="5394960" cy="365760"/>
          </a:xfrm>
          <a:prstGeom prst="rect">
            <a:avLst/>
          </a:prstGeom>
          <a:solidFill>
            <a:srgbClr val="B91C1C">
              <a:alpha val="1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0" y="5669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USE IN: Step 5: Monte Carlo engine validation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9" name="Text 47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i3 Technologies  .  OT Digital Twin  .  Solution 04 of 08  .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Requirements + TechZone Environments | 4 Roles, Day 90 Assignments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74320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1234440" y="960120"/>
            <a:ext cx="731520" cy="73152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34440" y="960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Engineer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HC: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" y="2697480"/>
            <a:ext cx="2523744" cy="685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2697480"/>
            <a:ext cx="24323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Monte Carlo . LSTM . TensorFlow . watsonx.ai . Watson Studio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8328" y="3456432"/>
            <a:ext cx="2523744" cy="50292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3456432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</a:rPr>
              <a:t>Cert: IBM AI Developer Professional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38328" y="4032504"/>
            <a:ext cx="2523744" cy="457200"/>
          </a:xfrm>
          <a:prstGeom prst="rect">
            <a:avLst/>
          </a:prstGeom>
          <a:solidFill>
            <a:srgbClr val="1E3A5F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4032504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Day 90: Step 4: LSTM training + Step 5: Monte Carlo engine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154680" y="8229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822960"/>
            <a:ext cx="2743200" cy="914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8" name="Shape 16"/>
          <p:cNvSpPr/>
          <p:nvPr/>
        </p:nvSpPr>
        <p:spPr>
          <a:xfrm>
            <a:off x="4160520" y="960120"/>
            <a:ext cx="731520" cy="73152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60520" y="960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46120" y="1828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AR/Unity Developer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4612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HC: 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64408" y="2697480"/>
            <a:ext cx="2523744" cy="685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3310128" y="2697480"/>
            <a:ext cx="24323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Unity XR . 3D modelling . SCADA integration . C# . Three.js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64408" y="3456432"/>
            <a:ext cx="2523744" cy="502920"/>
          </a:xfrm>
          <a:prstGeom prst="rect">
            <a:avLst/>
          </a:prstGeom>
          <a:solidFill>
            <a:srgbClr val="0F766E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310128" y="3456432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766E"/>
                </a:solidFill>
              </a:rPr>
              <a:t>Cert: Unity Pro Certified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264408" y="4032504"/>
            <a:ext cx="2523744" cy="457200"/>
          </a:xfrm>
          <a:prstGeom prst="rect">
            <a:avLst/>
          </a:prstGeom>
          <a:solidFill>
            <a:srgbClr val="1E3A5F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310128" y="4032504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Day 90: Step 1: Setup + Step 3: 3D model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080760" y="8229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822960"/>
            <a:ext cx="2743200" cy="91440"/>
          </a:xfrm>
          <a:prstGeom prst="rect">
            <a:avLst/>
          </a:prstGeom>
          <a:solidFill>
            <a:srgbClr val="1E7B34"/>
          </a:solidFill>
          <a:ln/>
        </p:spPr>
      </p:sp>
      <p:sp>
        <p:nvSpPr>
          <p:cNvPr id="30" name="Shape 28"/>
          <p:cNvSpPr/>
          <p:nvPr/>
        </p:nvSpPr>
        <p:spPr>
          <a:xfrm>
            <a:off x="7086600" y="960120"/>
            <a:ext cx="731520" cy="731520"/>
          </a:xfrm>
          <a:prstGeom prst="rect">
            <a:avLst/>
          </a:prstGeom>
          <a:solidFill>
            <a:srgbClr val="1E7B34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086600" y="960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MX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72200" y="1828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Maximo MAS Engineer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7220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B34"/>
                </a:solidFill>
              </a:rPr>
              <a:t>HC: 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90488" y="2697480"/>
            <a:ext cx="2523744" cy="685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5" name="Text 33"/>
          <p:cNvSpPr/>
          <p:nvPr/>
        </p:nvSpPr>
        <p:spPr>
          <a:xfrm>
            <a:off x="6236208" y="2697480"/>
            <a:ext cx="24323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Maximo Monitor . APM . sensor configuration . REST API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90488" y="3456432"/>
            <a:ext cx="2523744" cy="502920"/>
          </a:xfrm>
          <a:prstGeom prst="rect">
            <a:avLst/>
          </a:prstGeom>
          <a:solidFill>
            <a:srgbClr val="1E7B34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236208" y="3456432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7B34"/>
                </a:solidFill>
              </a:rPr>
              <a:t>Cert: IBM Maximo Admin Cert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190488" y="4032504"/>
            <a:ext cx="2523744" cy="457200"/>
          </a:xfrm>
          <a:prstGeom prst="rect">
            <a:avLst/>
          </a:prstGeom>
          <a:solidFill>
            <a:srgbClr val="1E3A5F">
              <a:alpha val="1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236208" y="4032504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Day 90: Step 2: Maximo APM data loading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9006840" y="8229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006840" y="822960"/>
            <a:ext cx="27432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2" name="Shape 40"/>
          <p:cNvSpPr/>
          <p:nvPr/>
        </p:nvSpPr>
        <p:spPr>
          <a:xfrm>
            <a:off x="10012680" y="960120"/>
            <a:ext cx="731520" cy="731520"/>
          </a:xfrm>
          <a:prstGeom prst="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0012680" y="960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098280" y="1828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0982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</a:rPr>
              <a:t>HC: 1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116568" y="2697480"/>
            <a:ext cx="2523744" cy="685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7" name="Text 45"/>
          <p:cNvSpPr/>
          <p:nvPr/>
        </p:nvSpPr>
        <p:spPr>
          <a:xfrm>
            <a:off x="9162288" y="2697480"/>
            <a:ext cx="24323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</a:rPr>
              <a:t>Time-series pipeline . Kafka . IBM DataStage . signal processing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9116568" y="3456432"/>
            <a:ext cx="2523744" cy="502920"/>
          </a:xfrm>
          <a:prstGeom prst="rect">
            <a:avLst/>
          </a:prstGeom>
          <a:solidFill>
            <a:srgbClr val="B45309">
              <a:alpha val="15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9162288" y="3456432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45309"/>
                </a:solidFill>
              </a:rPr>
              <a:t>Cert: IBM Data Engineer Cert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9116568" y="4032504"/>
            <a:ext cx="2523744" cy="457200"/>
          </a:xfrm>
          <a:prstGeom prst="rect">
            <a:avLst/>
          </a:prstGeom>
          <a:solidFill>
            <a:srgbClr val="1E3A5F">
              <a:alpha val="1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9162288" y="4032504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Day 90: Step 2: Sensor data pipeline from SCADA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28600" y="4736592"/>
            <a:ext cx="1170432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28600" y="4736592"/>
            <a:ext cx="1170432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4" name="Text 52"/>
          <p:cNvSpPr/>
          <p:nvPr/>
        </p:nvSpPr>
        <p:spPr>
          <a:xfrm>
            <a:off x="320040" y="482803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IBM TECHZONE: 2 NEW RESERVATIONS ON DAY 90 (reserve simultaneously)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0040" y="5148072"/>
            <a:ext cx="5486400" cy="9875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6" name="Shape 54"/>
          <p:cNvSpPr/>
          <p:nvPr/>
        </p:nvSpPr>
        <p:spPr>
          <a:xfrm>
            <a:off x="320040" y="5148072"/>
            <a:ext cx="91440" cy="9875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7" name="Text 55"/>
          <p:cNvSpPr/>
          <p:nvPr/>
        </p:nvSpPr>
        <p:spPr>
          <a:xfrm>
            <a:off x="484632" y="5202936"/>
            <a:ext cx="5257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IBM Maximo MAS 9.1 APM Demo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84632" y="5568696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Search: "Maximo Application Suite APM"  .  Duration: 60 days  .  Live sensor data feeds into Unity 3D model and APM health scores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126480" y="5148072"/>
            <a:ext cx="5486400" cy="9875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0" name="Shape 58"/>
          <p:cNvSpPr/>
          <p:nvPr/>
        </p:nvSpPr>
        <p:spPr>
          <a:xfrm>
            <a:off x="6126480" y="5148072"/>
            <a:ext cx="91440" cy="9875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1" name="Text 59"/>
          <p:cNvSpPr/>
          <p:nvPr/>
        </p:nvSpPr>
        <p:spPr>
          <a:xfrm>
            <a:off x="6291072" y="5202936"/>
            <a:ext cx="5257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IBM Watson Studio ML Lab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291072" y="5568696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Search: "Watson Studio Machine Learning"  .  Duration: 60 days  .  LSTM Failure Predictor and CNN Anomaly AI model training with GPU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4" name="Text 62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i3 Technologies  .  OT Digital Twin  .  Solution 04 of 08  .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-- OT Digital Twin &amp; 8-Solution Roadmap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DO ON DAY 90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39496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34440"/>
            <a:ext cx="9144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1. Reserve Maximo MAS 9.1 APM + Watson Studio ML Lab on TechZone (Day 90 morning)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539496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965960"/>
            <a:ext cx="9144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96596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2. Install Python Monte Carlo stack: pip install numpy scipy tensorflow matplotlib tqdm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697480"/>
            <a:ext cx="539496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2697480"/>
            <a:ext cx="9144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69748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3. Configure Unity 3D URP render pipeline (modify existing MaxAR Unity installation)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539496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3429000"/>
            <a:ext cx="9144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42900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4. Request GDC Kenya CAD drawings from facilities management -- 2-week lead time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4160520"/>
            <a:ext cx="539496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4160520"/>
            <a:ext cx="9144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16052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5. Load GDC_Assets tab (50 records) into Maximo APM to start sensor configuration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892040"/>
            <a:ext cx="539496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4892040"/>
            <a:ext cx="9144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89204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6. Install Three.js web viewer stack: npm install three vite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5623560"/>
            <a:ext cx="539496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5623560"/>
            <a:ext cx="9144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562356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7. Begin feature engineering of Sensor_Readings dataset -- start LSTM training pipeline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26480" y="822960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8-SOLUTION ROADMAP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1234440"/>
            <a:ext cx="5852160" cy="585216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8" name="Shape 26"/>
          <p:cNvSpPr/>
          <p:nvPr/>
        </p:nvSpPr>
        <p:spPr>
          <a:xfrm>
            <a:off x="6126480" y="1234440"/>
            <a:ext cx="384048" cy="585216"/>
          </a:xfrm>
          <a:prstGeom prst="rect">
            <a:avLst/>
          </a:prstGeom>
          <a:solidFill>
            <a:srgbClr val="1E7B34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1234440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65392" y="127101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GridSentinel AI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65392" y="1563624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7B34"/>
                </a:solidFill>
              </a:rPr>
              <a:t>Day 1  .  COMPLETE -- LOI Signed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126480" y="1911096"/>
            <a:ext cx="5852160" cy="585216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3" name="Shape 31"/>
          <p:cNvSpPr/>
          <p:nvPr/>
        </p:nvSpPr>
        <p:spPr>
          <a:xfrm>
            <a:off x="6126480" y="1911096"/>
            <a:ext cx="384048" cy="5852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1911096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65392" y="19476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MaxAR Field Engineer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65392" y="224028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</a:rPr>
              <a:t>Day 31+  .  KenGen Pilot Underway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126480" y="2587752"/>
            <a:ext cx="5852160" cy="585216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8" name="Shape 36"/>
          <p:cNvSpPr/>
          <p:nvPr/>
        </p:nvSpPr>
        <p:spPr>
          <a:xfrm>
            <a:off x="6126480" y="2587752"/>
            <a:ext cx="384048" cy="58521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0" y="2587752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65392" y="26243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AssetChain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565392" y="291693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766E"/>
                </a:solidFill>
              </a:rPr>
              <a:t>Day 60+  .  KPC Pilot Underway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126480" y="3264408"/>
            <a:ext cx="5852160" cy="585216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3" name="Shape 41"/>
          <p:cNvSpPr/>
          <p:nvPr/>
        </p:nvSpPr>
        <p:spPr>
          <a:xfrm>
            <a:off x="6126480" y="3264408"/>
            <a:ext cx="384048" cy="5852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6126480" y="3264408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565392" y="330098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OT Digital Twin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565392" y="3593592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Day 90+  .  BUILD NOW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126480" y="3941064"/>
            <a:ext cx="5852160" cy="585216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Shape 46"/>
          <p:cNvSpPr/>
          <p:nvPr/>
        </p:nvSpPr>
        <p:spPr>
          <a:xfrm>
            <a:off x="6126480" y="3941064"/>
            <a:ext cx="384048" cy="58521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9" name="Text 47"/>
          <p:cNvSpPr/>
          <p:nvPr/>
        </p:nvSpPr>
        <p:spPr>
          <a:xfrm>
            <a:off x="6126480" y="3941064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565392" y="39776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AirportOS AI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565392" y="427024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45309"/>
                </a:solidFill>
              </a:rPr>
              <a:t>Day 120+  .  Scheduled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126480" y="4617720"/>
            <a:ext cx="5852160" cy="585216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3" name="Shape 51"/>
          <p:cNvSpPr/>
          <p:nvPr/>
        </p:nvSpPr>
        <p:spPr>
          <a:xfrm>
            <a:off x="6126480" y="4617720"/>
            <a:ext cx="384048" cy="585216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4" name="Text 52"/>
          <p:cNvSpPr/>
          <p:nvPr/>
        </p:nvSpPr>
        <p:spPr>
          <a:xfrm>
            <a:off x="6126480" y="4617720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565392" y="465429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RailMind AI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565392" y="4946904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91C1C"/>
                </a:solidFill>
              </a:rPr>
              <a:t>Day 150+  .  POC Planned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126480" y="5294376"/>
            <a:ext cx="5852160" cy="585216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8" name="Shape 56"/>
          <p:cNvSpPr/>
          <p:nvPr/>
        </p:nvSpPr>
        <p:spPr>
          <a:xfrm>
            <a:off x="6126480" y="5294376"/>
            <a:ext cx="384048" cy="58521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9" name="Text 57"/>
          <p:cNvSpPr/>
          <p:nvPr/>
        </p:nvSpPr>
        <p:spPr>
          <a:xfrm>
            <a:off x="6126480" y="5294376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565392" y="53309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AquaSense AI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565392" y="562356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766E"/>
                </a:solidFill>
              </a:rPr>
              <a:t>Day 180+  .  Design Phase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126480" y="5971032"/>
            <a:ext cx="5852160" cy="585216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3" name="Shape 61"/>
          <p:cNvSpPr/>
          <p:nvPr/>
        </p:nvSpPr>
        <p:spPr>
          <a:xfrm>
            <a:off x="6126480" y="5971032"/>
            <a:ext cx="384048" cy="58521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4" name="Text 62"/>
          <p:cNvSpPr/>
          <p:nvPr/>
        </p:nvSpPr>
        <p:spPr>
          <a:xfrm>
            <a:off x="6126480" y="5971032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565392" y="60076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OTShield AI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565392" y="630021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5CF6"/>
                </a:solidFill>
              </a:rPr>
              <a:t>Day 1 (parallel)  .  Running in Parallel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8" name="Text 66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i3 Technologies  .  IBM Silver Partner CEID 7sq30  .  Philip Mukiti  .  March 2026  .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 Digital Twin -- Monte Carlo Industrial Digital Twin | Solution 04 of 08</dc:title>
  <dc:subject>PptxGenJS Presentation</dc:subject>
  <dc:creator>Philip Mukiti -- i3 Technologies</dc:creator>
  <cp:lastModifiedBy>Philip Mukiti -- i3 Technologies</cp:lastModifiedBy>
  <cp:revision>1</cp:revision>
  <dcterms:created xsi:type="dcterms:W3CDTF">2026-03-21T01:20:18Z</dcterms:created>
  <dcterms:modified xsi:type="dcterms:W3CDTF">2026-03-21T01:20:18Z</dcterms:modified>
</cp:coreProperties>
</file>